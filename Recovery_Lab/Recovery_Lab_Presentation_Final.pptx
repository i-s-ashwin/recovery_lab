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21f0a438624070" /><Relationship Type="http://schemas.openxmlformats.org/officeDocument/2006/relationships/extended-properties" Target="/docProps/app.xml" Id="R591fbc7249d64ac3" /><Relationship Type="http://schemas.openxmlformats.org/officeDocument/2006/relationships/officeDocument" Target="/ppt/presentation.xml" Id="R99b26c3ed1dd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42b59d7354928"/>
  </p:sldMasterIdLst>
  <p:notesMasterIdLst>
    <p:notesMasterId xmlns:r="http://schemas.openxmlformats.org/officeDocument/2006/relationships" r:id="Re5206152db3a4948"/>
  </p:notesMasterIdLst>
  <p:sldIdLst>
    <p:sldId xmlns:r="http://schemas.openxmlformats.org/officeDocument/2006/relationships" id="256" r:id="R12ca4a96aeda4ddc"/>
    <p:sldId xmlns:r="http://schemas.openxmlformats.org/officeDocument/2006/relationships" id="257" r:id="Rf54be2ec24c94f16"/>
    <p:sldId xmlns:r="http://schemas.openxmlformats.org/officeDocument/2006/relationships" id="258" r:id="R0c4517c27a614fee"/>
    <p:sldId xmlns:r="http://schemas.openxmlformats.org/officeDocument/2006/relationships" id="259" r:id="Rd90bf9d1ee734af5"/>
    <p:sldId xmlns:r="http://schemas.openxmlformats.org/officeDocument/2006/relationships" id="260" r:id="R1def6107398d41a1"/>
    <p:sldId xmlns:r="http://schemas.openxmlformats.org/officeDocument/2006/relationships" id="261" r:id="R82ca8b38018945ad"/>
    <p:sldId xmlns:r="http://schemas.openxmlformats.org/officeDocument/2006/relationships" id="262" r:id="Ra14bb110c24b4c97"/>
    <p:sldId xmlns:r="http://schemas.openxmlformats.org/officeDocument/2006/relationships" id="263" r:id="R6baaf00b92ed4b0d"/>
    <p:sldId xmlns:r="http://schemas.openxmlformats.org/officeDocument/2006/relationships" id="264" r:id="R3cd00bc249c3439a"/>
    <p:sldId xmlns:r="http://schemas.openxmlformats.org/officeDocument/2006/relationships" id="265" r:id="Rdaa81a14c6c3499b"/>
    <p:sldId xmlns:r="http://schemas.openxmlformats.org/officeDocument/2006/relationships" id="266" r:id="R3db0ba26601848b4"/>
    <p:sldId xmlns:r="http://schemas.openxmlformats.org/officeDocument/2006/relationships" id="267" r:id="R42b2be64a492478c"/>
  </p:sldIdLst>
  <p:sldSz cx="10693400" cy="755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66634b54f340df" /><Relationship Type="http://schemas.openxmlformats.org/officeDocument/2006/relationships/slideMaster" Target="/ppt/slideMasters/slideMaster1.xml" Id="R05842b59d7354928" /><Relationship Type="http://schemas.openxmlformats.org/officeDocument/2006/relationships/notesMaster" Target="/ppt/notesMasters/notesMaster1.xml" Id="Re5206152db3a4948" /><Relationship Type="http://schemas.openxmlformats.org/officeDocument/2006/relationships/presProps" Target="/ppt/presProps.xml" Id="Rc1f422a46e954817" /><Relationship Type="http://schemas.openxmlformats.org/officeDocument/2006/relationships/viewProps" Target="/ppt/viewProps.xml" Id="Rd1ed7de265d84873" /><Relationship Type="http://schemas.openxmlformats.org/officeDocument/2006/relationships/tableStyles" Target="/ppt/tableStyles.xml" Id="R1cfc418f46e24a35" /><Relationship Type="http://schemas.openxmlformats.org/officeDocument/2006/relationships/slide" Target="/ppt/slides/slide1.xml" Id="R12ca4a96aeda4ddc" /><Relationship Type="http://schemas.openxmlformats.org/officeDocument/2006/relationships/slide" Target="/ppt/slides/slide2.xml" Id="Rf54be2ec24c94f16" /><Relationship Type="http://schemas.openxmlformats.org/officeDocument/2006/relationships/slide" Target="/ppt/slides/slide3.xml" Id="R0c4517c27a614fee" /><Relationship Type="http://schemas.openxmlformats.org/officeDocument/2006/relationships/slide" Target="/ppt/slides/slide4.xml" Id="Rd90bf9d1ee734af5" /><Relationship Type="http://schemas.openxmlformats.org/officeDocument/2006/relationships/slide" Target="/ppt/slides/slide5.xml" Id="R1def6107398d41a1" /><Relationship Type="http://schemas.openxmlformats.org/officeDocument/2006/relationships/slide" Target="/ppt/slides/slide6.xml" Id="R82ca8b38018945ad" /><Relationship Type="http://schemas.openxmlformats.org/officeDocument/2006/relationships/slide" Target="/ppt/slides/slide7.xml" Id="Ra14bb110c24b4c97" /><Relationship Type="http://schemas.openxmlformats.org/officeDocument/2006/relationships/slide" Target="/ppt/slides/slide8.xml" Id="R6baaf00b92ed4b0d" /><Relationship Type="http://schemas.openxmlformats.org/officeDocument/2006/relationships/slide" Target="/ppt/slides/slide9.xml" Id="R3cd00bc249c3439a" /><Relationship Type="http://schemas.openxmlformats.org/officeDocument/2006/relationships/slide" Target="/ppt/slides/slide10.xml" Id="Rdaa81a14c6c3499b" /><Relationship Type="http://schemas.openxmlformats.org/officeDocument/2006/relationships/slide" Target="/ppt/slides/slide11.xml" Id="R3db0ba26601848b4" /><Relationship Type="http://schemas.openxmlformats.org/officeDocument/2006/relationships/slide" Target="/ppt/slides/slide12.xml" Id="R42b2be64a492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e6eb38fcaa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b3eb101f54bf2" /><Relationship Type="http://schemas.openxmlformats.org/officeDocument/2006/relationships/notesMaster" Target="/ppt/notesMasters/notesMaster1.xml" Id="R13ce8c55306f49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45683c8b564f6d" /><Relationship Type="http://schemas.openxmlformats.org/officeDocument/2006/relationships/notesMaster" Target="/ppt/notesMasters/notesMaster1.xml" Id="R148d869c73f9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34060f1d849a2" /><Relationship Type="http://schemas.openxmlformats.org/officeDocument/2006/relationships/notesMaster" Target="/ppt/notesMasters/notesMaster1.xml" Id="R3528998bfbe5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13cbac752464a" /><Relationship Type="http://schemas.openxmlformats.org/officeDocument/2006/relationships/notesMaster" Target="/ppt/notesMasters/notesMaster1.xml" Id="Rdd7f1bcad835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21e75bf364cdb" /><Relationship Type="http://schemas.openxmlformats.org/officeDocument/2006/relationships/notesMaster" Target="/ppt/notesMasters/notesMaster1.xml" Id="R0d3f3e98c2ba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dd271fc16b4a57" /><Relationship Type="http://schemas.openxmlformats.org/officeDocument/2006/relationships/notesMaster" Target="/ppt/notesMasters/notesMaster1.xml" Id="Rf8ff4b29b37c40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695c1209d4a50" /><Relationship Type="http://schemas.openxmlformats.org/officeDocument/2006/relationships/notesMaster" Target="/ppt/notesMasters/notesMaster1.xml" Id="Rbd128ed26ae04b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e58d2068140ac" /><Relationship Type="http://schemas.openxmlformats.org/officeDocument/2006/relationships/notesMaster" Target="/ppt/notesMasters/notesMaster1.xml" Id="R00b5e633758145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d0712eeb354be1" /><Relationship Type="http://schemas.openxmlformats.org/officeDocument/2006/relationships/notesMaster" Target="/ppt/notesMasters/notesMaster1.xml" Id="R9c75bb6f21c7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97befd2c424763" /><Relationship Type="http://schemas.openxmlformats.org/officeDocument/2006/relationships/notesMaster" Target="/ppt/notesMasters/notesMaster1.xml" Id="R358d66f39a0245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640575732d4dd8" /><Relationship Type="http://schemas.openxmlformats.org/officeDocument/2006/relationships/notesMaster" Target="/ppt/notesMasters/notesMaster1.xml" Id="R1a9da757c34a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cef21d1294fc0" /><Relationship Type="http://schemas.openxmlformats.org/officeDocument/2006/relationships/notesMaster" Target="/ppt/notesMasters/notesMaster1.xml" Id="R3e37376076894e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TVS Credit EPIC 8 hackathon POC. Local demonstration. Source artwork: user supplied Cover Page 1.pptx. Team and presenter details can be added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POC joins seizure-time valuation with an assumption-based lending simulator. It does not establish origination risk or authorize credit decisions. Source: implementation blueprint and Phase 5 policy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Analytics Case Study Dataset.xlsx remained unchanged. Phase 1 compared all 615,000 source cells. 8,850 CIBIL -1 values have unresolved meaning. Salary frequency and existing obligations are unavailable. See Data_Dictionary.md and Open_Definitions.md.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Operational test seizures are 1 May to 9 July 2026, sales 20 June to 31 July. 2,830 records lie outside operational development/test roles. Availability timestamps require confirmation. Phase 1 inspected full-file descriptive data, so this is an internal development holdout. Source: Phase 2 manifests and Phase 9 evaluation 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editable architecture diagram. FastAPI serves the compiled React dashboard at 127.0.0.1:8078. The local service includes strict request validation, readiness checks, rate limits, fallback and persistent audit. It has no multiuser authentication. Source: Phase 8 service and operations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CatBoost 1.2.10 MultiQuantile alpha 0.1,0.5,0.9, depth 6, learning rate 0.05, L2 3, seed 2026. Nonnegative conformal expansion at rank 468 targets 80% pooled coverage under exchangeability assumptions. No time/subgroup guarantee. Sources: https://catboost.ai/docs/en/concepts/loss-functions-regression and Romano et al. (2019), https://arxiv.org/abs/1905.03222 . Adaptive online calibration is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MAE 7051.863755005328 versus B0 8342.911643380034. Reduction 15.474787982432144%. RMSE 9557 versus 11085. Paired case-bootstrap MAE gain interval INR 1004 to 1575, conditional on fixed models and ignoring temporal/entity dependence. Source: Phase 9 final_metrics.json.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coverage Wilson 95% interval 78.17 to 82.57%. EV interval 44.86 to 75.22%, only 36 cases. EV mean signed error -7260 INR. Sold-only selection and late-period right truncation limit interpretation. Source: Phase 9 operational_segments.json.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A uses cost INR 100000, downside 70000, median 85000, monthly income 30000 and obligations 5000, assumed verified. Base rate 21%, EMI 5219.59. Future values use hand-authored factors, not validated forecasts. Policy is illustrative, not an approval or lender policy. Source: Phase 6 scenario outputs and frozen_policy.py.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Shortfall amounts INR 62000, 89380, 121880. Base price factor 1/cost3000/delay0; adverse .9/4000/1; severe .8/6000/3. Sum asset shortfalls divided by sum exposures, no surplus offset. This conditional stress does not estimate PD, expected loss or a portfolio quantile. Source: Phase 6 fixtures and Phase 8 deployment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8 measured p95 84.3978ms serial and 200.1207ms with four clients, 16 samples. These are small loopback benchmarks, not a production capacity claim. A fallback removes calibrated intervals and disables model-based lending. Source: Phase 8 latency.json and operations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Largest observed error example ASSET_1161: actual INR15000 versus median61099.67, calibrated interval44952.92 to72331.48. Cause remains unknown and needs source investigation. Add verified feature timestamps, obligations, condition, full recovery costs and continuing outcome monitoring. After changes, use a fresh forward test. Existing retrospective cohort overlaps the operational cohort. No win or profit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d62a083bb48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f0dcbc7a347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07cffaf5241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7e476fbc242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7f34d22354dc5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B495980-08AA-48BE-9F0E-94B7FC4B1B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02005" y="2342515"/>
            <a:ext cx="9089390" cy="158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71D1631-A071-44B3-98EA-660B0FCC426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604010" y="4231640"/>
            <a:ext cx="7485380" cy="188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2FDE99B-F4D3-4C86-A462-C293BA1A04F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E7BDA5C5-CE14-431A-B257-8ACE228E0B2D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FD79012-2338-4413-B6FD-11E745FE09C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0D437DD-8A19-496B-B631-95EBF9650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B9E114C-C468-45CC-842F-D6C19D3811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B7C9C5E-6639-4847-BBD3-BDB3264AED1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0D875B7-5C4B-42A3-9A94-28694CC62BD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FC870793-28ED-4DE1-8947-3A4C5911C61B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FD15F42-D108-43E0-9601-49D8A5438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BEF2A5F-86EF-4342-82BF-7A88804465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34670" y="1737995"/>
            <a:ext cx="4651629" cy="4987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3B9B7E4D-E705-4AEE-A1DA-069C3B20AD5C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507101" y="1737995"/>
            <a:ext cx="4651629" cy="4987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4A7FCE2C-D428-4D1D-AA4F-4C1FC4D7476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BFAA326-D900-4E08-AF70-C69442455291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8461781-9BE0-415E-9DD3-E5F03269D0B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0B3910D-257C-4891-921A-DE2D123E3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A81CC9-B419-4342-AD04-3BC9070A390B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D209272-B807-4142-A9C4-0EE2F76E695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8F54D062-82DB-478F-A501-B8BF7B55641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ABC8F50-A724-4F1B-9851-43D994471BE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FE6C07B-31B4-4A12-B826-DA57AE49F56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934CC43B-6E75-4CD0-B04D-03142644FDAD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505a51f6748fe" /><Relationship Type="http://schemas.openxmlformats.org/officeDocument/2006/relationships/slideLayout" Target="/ppt/slideLayouts/slideLayout1.xml" Id="Rb6af171c30b7494b" /><Relationship Type="http://schemas.openxmlformats.org/officeDocument/2006/relationships/slideLayout" Target="/ppt/slideLayouts/slideLayout2.xml" Id="Rabbc878a79f24640" /><Relationship Type="http://schemas.openxmlformats.org/officeDocument/2006/relationships/slideLayout" Target="/ppt/slideLayouts/slideLayout3.xml" Id="R461bd834dca949ef" /><Relationship Type="http://schemas.openxmlformats.org/officeDocument/2006/relationships/slideLayout" Target="/ppt/slideLayouts/slideLayout4.xml" Id="Rba69fd141bcb487f" /><Relationship Type="http://schemas.openxmlformats.org/officeDocument/2006/relationships/slideLayout" Target="/ppt/slideLayouts/slideLayout5.xml" Id="R114cfc2a7291497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7BE9BAF6-0563-4D86-A9AA-A932D5F03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4670" y="302260"/>
            <a:ext cx="9624060" cy="1209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0A15B52-AEED-4C09-8006-33C6BE390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34670" y="1737995"/>
            <a:ext cx="9624060" cy="4987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7630677-A5AD-48DB-BCA3-E0000097DA2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635756" y="7027545"/>
            <a:ext cx="3421888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F4F6E72-47B1-4B94-A166-045635E5CB9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534670" y="7027545"/>
            <a:ext cx="2459482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E28F766-95C5-462C-A9F3-FB7758090BC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7699248" y="7027545"/>
            <a:ext cx="2459482" cy="377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#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af171c30b7494b"/>
    <p:sldLayoutId xmlns:r="http://schemas.openxmlformats.org/officeDocument/2006/relationships" id="2147483650" r:id="Rabbc878a79f24640"/>
    <p:sldLayoutId xmlns:r="http://schemas.openxmlformats.org/officeDocument/2006/relationships" id="2147483651" r:id="R461bd834dca949ef"/>
    <p:sldLayoutId xmlns:r="http://schemas.openxmlformats.org/officeDocument/2006/relationships" id="2147483652" r:id="Rba69fd141bcb487f"/>
    <p:sldLayoutId xmlns:r="http://schemas.openxmlformats.org/officeDocument/2006/relationships" id="2147483653" r:id="R114cfc2a72914976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e11af8fba74456" /><Relationship Type="http://schemas.openxmlformats.org/officeDocument/2006/relationships/image" Target="/ppt/media/image.jpeg" Id="R6b668ea310ec4a5f" /><Relationship Type="http://schemas.openxmlformats.org/officeDocument/2006/relationships/notesSlide" Target="/ppt/notesSlides/notesSlide1.xml" Id="R88c69e66dcad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efbc64216f4e6d" /><Relationship Type="http://schemas.openxmlformats.org/officeDocument/2006/relationships/image" Target="/ppt/media/image.png" Id="R6c971fc65e264026" /><Relationship Type="http://schemas.openxmlformats.org/officeDocument/2006/relationships/notesSlide" Target="/ppt/notesSlides/notesSlide2.xml" Id="Rde48a2d4588649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acabdca14d99" /><Relationship Type="http://schemas.openxmlformats.org/officeDocument/2006/relationships/image" Target="/ppt/media/image2.png" Id="Rd6217febf65d4c34" /><Relationship Type="http://schemas.openxmlformats.org/officeDocument/2006/relationships/notesSlide" Target="/ppt/notesSlides/notesSlide3.xml" Id="R0468fe1a4b2c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d41edced04859" /><Relationship Type="http://schemas.openxmlformats.org/officeDocument/2006/relationships/image" Target="/ppt/media/image3.png" Id="R71ec8a11581a412d" /><Relationship Type="http://schemas.openxmlformats.org/officeDocument/2006/relationships/notesSlide" Target="/ppt/notesSlides/notesSlide4.xml" Id="R21797f5d059044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919d126384307" /><Relationship Type="http://schemas.openxmlformats.org/officeDocument/2006/relationships/image" Target="/ppt/media/image4.png" Id="R2ae0930ec40f4884" /><Relationship Type="http://schemas.openxmlformats.org/officeDocument/2006/relationships/notesSlide" Target="/ppt/notesSlides/notesSlide5.xml" Id="R9cd5fbb92533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dd5b9e7974b85" /><Relationship Type="http://schemas.openxmlformats.org/officeDocument/2006/relationships/image" Target="/ppt/media/image5.png" Id="R77b5d6539b18410c" /><Relationship Type="http://schemas.openxmlformats.org/officeDocument/2006/relationships/notesSlide" Target="/ppt/notesSlides/notesSlide6.xml" Id="R457a00167e82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5e19c95c34f70" /><Relationship Type="http://schemas.openxmlformats.org/officeDocument/2006/relationships/image" Target="/ppt/media/image6.png" Id="R6c9ac54622964f8a" /><Relationship Type="http://schemas.openxmlformats.org/officeDocument/2006/relationships/chart" Target="/ppt/slides/charts/chart1.xml" Id="Rc056928b5de24374" /><Relationship Type="http://schemas.openxmlformats.org/officeDocument/2006/relationships/notesSlide" Target="/ppt/notesSlides/notesSlide7.xml" Id="R96d68ee5f122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98cc48e634d0b" /><Relationship Type="http://schemas.openxmlformats.org/officeDocument/2006/relationships/image" Target="/ppt/media/image7.png" Id="R84b7ecdac2ed4f7d" /><Relationship Type="http://schemas.openxmlformats.org/officeDocument/2006/relationships/chart" Target="/ppt/slides/charts/chart2.xml" Id="Rc3a8f3346a9c405d" /><Relationship Type="http://schemas.openxmlformats.org/officeDocument/2006/relationships/notesSlide" Target="/ppt/notesSlides/notesSlide8.xml" Id="R07a7c947a92245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b287c4b464b08" /><Relationship Type="http://schemas.openxmlformats.org/officeDocument/2006/relationships/image" Target="/ppt/media/image8.png" Id="R5ef60e2fed7c4d07" /><Relationship Type="http://schemas.openxmlformats.org/officeDocument/2006/relationships/notesSlide" Target="/ppt/notesSlides/notesSlide9.xml" Id="R0a3bd8ae386d4d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48dcdc2c14cb9" /><Relationship Type="http://schemas.openxmlformats.org/officeDocument/2006/relationships/image" Target="/ppt/media/image9.png" Id="Re876eaecf1bb41a4" /><Relationship Type="http://schemas.openxmlformats.org/officeDocument/2006/relationships/chart" Target="/ppt/slides/charts/chart3.xml" Id="R8ebb040a50c1472e" /><Relationship Type="http://schemas.openxmlformats.org/officeDocument/2006/relationships/notesSlide" Target="/ppt/notesSlides/notesSlide10.xml" Id="R6d5592f341bb41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6842c7ef542a9" /><Relationship Type="http://schemas.openxmlformats.org/officeDocument/2006/relationships/image" Target="/ppt/media/image10.png" Id="Rb6c014d2890d4918" /><Relationship Type="http://schemas.openxmlformats.org/officeDocument/2006/relationships/notesSlide" Target="/ppt/notesSlides/notesSlide11.xml" Id="Rde7c794d6e6e40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2243116f34d4d" /><Relationship Type="http://schemas.openxmlformats.org/officeDocument/2006/relationships/image" Target="/ppt/media/image11.png" Id="Rcdbb5276eb2148ef" /><Relationship Type="http://schemas.openxmlformats.org/officeDocument/2006/relationships/notesSlide" Target="/ppt/notesSlides/notesSlide12.xml" Id="R96d435c3e41d468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absolute error (INR)</c:v>
          </c:tx>
          <c:spPr>
            <a:solidFill xmlns:a="http://schemas.openxmlformats.org/drawingml/2006/main">
              <a:srgbClr val="008B48"/>
            </a:solidFill>
          </c:spPr>
          <c:cat>
            <c:strRef>
              <c:f>'Chart Data'!$A$2:$A$3</c:f>
              <c:strCache>
                <c:ptCount val="2"/>
                <c:pt idx="0">
                  <c:v>Median-ratio baseline</c:v>
                </c:pt>
                <c:pt idx="1">
                  <c:v>Frozen CatBoost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8342.911643</c:v>
                </c:pt>
                <c:pt idx="1">
                  <c:v>7051.863755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Calibrated interval coverage</c:v>
          </c:tx>
          <c:spPr>
            <a:solidFill xmlns:a="http://schemas.openxmlformats.org/drawingml/2006/main">
              <a:srgbClr val="008B48"/>
            </a:solidFill>
          </c:spPr>
          <c:cat>
            <c:strRef>
              <c:f>'Chart Data'!$A$2:$A$4</c:f>
              <c:strCache>
                <c:ptCount val="3"/>
                <c:pt idx="0">
                  <c:v>All (1,244)</c:v>
                </c:pt>
                <c:pt idx="1">
                  <c:v>Petrol (1,208)</c:v>
                </c:pt>
                <c:pt idx="2">
                  <c:v>EV (36)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0.804662</c:v>
                </c:pt>
                <c:pt idx="1">
                  <c:v>0.81043</c:v>
                </c:pt>
                <c:pt idx="2">
                  <c:v>0.611111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Exposure-weighted shortfall</c:v>
          </c:tx>
          <c:spPr>
            <a:solidFill xmlns:a="http://schemas.openxmlformats.org/drawingml/2006/main">
              <a:srgbClr val="008B48"/>
            </a:solidFill>
          </c:spPr>
          <c:cat>
            <c:strRef>
              <c:f>'Chart Data'!$A$2:$A$4</c:f>
              <c:strCache>
                <c:ptCount val="3"/>
                <c:pt idx="0">
                  <c:v>Base</c:v>
                </c:pt>
                <c:pt idx="1">
                  <c:v>Adverse</c:v>
                </c:pt>
                <c:pt idx="2">
                  <c:v>Severe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0.233962</c:v>
                </c:pt>
                <c:pt idx="1">
                  <c:v>0.337283</c:v>
                </c:pt>
                <c:pt idx="2">
                  <c:v>0.459925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8ea310ec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877887"/>
            <a:ext cx="10312400" cy="58007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60EA-D86F-4890-83D7-B66863A3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452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Recovery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881DF-B415-4DDF-9CE4-C6EB80E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38575"/>
            <a:ext cx="442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Vehicle valuation and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lending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600760630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objec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71fc65e26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958453"/>
            <a:ext cx="10312400" cy="572015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135F3-301D-47E6-92C1-A484D4E2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The recovery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7B0B4-FF96-49D8-A78F-C0DE802F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Estimate sale value when a vehicle enters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CBAE6-5CC8-474A-BAD2-25187633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Use uncertainty to compare affordable loan offers.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A9296-D387-42A8-9EC0-366CC2F7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Show how price shocks and delays affect collateral shortfall.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0FB4-91EA-4CDA-BB66-FAB3BEB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Keep final decisions with a reviewer.</a:t>
            </a:r>
          </a:p>
        </p:txBody>
      </p:sp>
    </p:spTree>
    <p:extLst>
      <p:ext uri="{BB962C8B-B14F-4D97-AF65-F5344CB8AC3E}">
        <p14:creationId xmlns:p14="http://schemas.microsoft.com/office/powerpoint/2010/main" val="5387851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17febf65d4c34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B318F-78C9-4EDD-8508-7CC3B4E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The supplied dataset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9429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14875"/>
                <a:gridCol w="4714875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Population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/ finding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Sold repossessed vehicles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Petrol / 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14,694 / 306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Original / canonical fields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41 / 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Missing values / duplicate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DDC2A-50CA-472D-A7B4-DBA75EB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Unsold vehicles and performing borrowers are absent.</a:t>
            </a:r>
          </a:p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Months since agreement does not measure manufacture age.</a:t>
            </a:r>
          </a:p>
        </p:txBody>
      </p:sp>
    </p:spTree>
    <p:extLst>
      <p:ext uri="{BB962C8B-B14F-4D97-AF65-F5344CB8AC3E}">
        <p14:creationId xmlns:p14="http://schemas.microsoft.com/office/powerpoint/2010/main" val="17479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c8a11581a412d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F01A0-2104-45CA-BAB6-8EF1B31D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Time controls prevent future leakage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9429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143250"/>
                <a:gridCol w="314325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Cases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Label cutoff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9,767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Before 1 Jan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Model selection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576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Before 1 Mar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Calibration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583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Before 1 May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Final operational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1,244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Observed through Jul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1C850-608D-48A5-ACC5-7E1A4AD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Nine vehicle and location features. Sale price, yard duration,</a:t>
            </a:r>
          </a:p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condition codes and customer credit attributes stay outside inputs.</a:t>
            </a:r>
          </a:p>
        </p:txBody>
      </p:sp>
    </p:spTree>
    <p:extLst>
      <p:ext uri="{BB962C8B-B14F-4D97-AF65-F5344CB8AC3E}">
        <p14:creationId xmlns:p14="http://schemas.microsoft.com/office/powerpoint/2010/main" val="6940290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0930ec40f4884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80773-42C1-4851-8A98-5FADC9B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Local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1918-FF98-4956-A69D-0092D8B9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Original workbook</a:t>
            </a:r>
          </a:p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Canonical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B3234-0E29-4F5B-AC10-BE9DE1DE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4A7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BD5D9-501A-4287-9073-7667667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Frozen CatBoost</a:t>
            </a:r>
          </a:p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Calibrated interval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98A70-6242-4E7C-83F2-CC487A9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4A7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DEB4-3323-40D1-89C0-C423509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14625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FastAPI service</a:t>
            </a:r>
          </a:p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Policy and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1E299-DA0F-4FC4-9AAD-1614A45D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4A7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DFDFC-918F-44BB-9FDE-4B0F86F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14625"/>
            <a:ext cx="2143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B4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Local dashboard</a:t>
            </a:r>
          </a:p>
          <a:p xmlns:a="http://schemas.openxmlformats.org/drawingml/2006/main">
            <a:pPr>
              <a:defRPr sz="1875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4A76"/>
                </a:solidFill>
                <a:latin typeface="Arial"/>
                <a:ea typeface="Arial"/>
                <a:cs typeface="Arial"/>
              </a:rPr>
              <a:t>Reviewer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95A77-3962-477E-9EF2-EAD648D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SQLite audit journal records request fingerprints and outcomes.</a:t>
            </a:r>
          </a:p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Bundle hashes protect the frozen inference release.</a:t>
            </a:r>
          </a:p>
        </p:txBody>
      </p:sp>
    </p:spTree>
    <p:extLst>
      <p:ext uri="{BB962C8B-B14F-4D97-AF65-F5344CB8AC3E}">
        <p14:creationId xmlns:p14="http://schemas.microsoft.com/office/powerpoint/2010/main" val="21103389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5d6539b18410c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B1B1B-444E-47C2-A694-26B206C6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Quantile model and 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6FE28-C3C6-448E-9A21-F9D52BE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CatBoost estimates lower, median and upper sale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9FE5-98DC-41BC-A7AF-7643B0C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Six trials selected 474 trees using the tuning period.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F832C-305C-4F62-ACA3-7C8BA7DF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583 later cases expand each interval side by INR 1,859.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3BAE2-4ED3-46E2-9572-E052031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SHAP contributions explain associations in the median estimate.</a:t>
            </a:r>
          </a:p>
        </p:txBody>
      </p:sp>
    </p:spTree>
    <p:extLst>
      <p:ext uri="{BB962C8B-B14F-4D97-AF65-F5344CB8AC3E}">
        <p14:creationId xmlns:p14="http://schemas.microsoft.com/office/powerpoint/2010/main" val="18797315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ac54622964f8a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18707-A141-4081-AA88-B5B64780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15.5% lower final valuation error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048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6928b5de2437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6E81D-9331-4055-881D-0860B40D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1,244 operational holdout cases. Mean absolute error in INR.</a:t>
            </a:r>
          </a:p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The model and calibration stayed frozen for this evaluation.</a:t>
            </a:r>
          </a:p>
        </p:txBody>
      </p:sp>
    </p:spTree>
    <p:extLst>
      <p:ext uri="{BB962C8B-B14F-4D97-AF65-F5344CB8AC3E}">
        <p14:creationId xmlns:p14="http://schemas.microsoft.com/office/powerpoint/2010/main" val="11358660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7ecdac2ed4f7d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1F445-B3F2-4C8B-AAE1-FD0519C7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EV coverage needs improvement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048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a8f3346a9c40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5EA5-2DE8-481E-AB55-2DF76591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42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80% pooled target. Mean interval width INR 23,146 overall.</a:t>
            </a:r>
          </a:p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EV mean error INR 13,509 and only 0.4% gain over baseline.</a:t>
            </a:r>
          </a:p>
        </p:txBody>
      </p:sp>
    </p:spTree>
    <p:extLst>
      <p:ext uri="{BB962C8B-B14F-4D97-AF65-F5344CB8AC3E}">
        <p14:creationId xmlns:p14="http://schemas.microsoft.com/office/powerpoint/2010/main" val="4480725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60e2fed7c4d07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CEDC9-AD89-4643-A247-0DF12323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A transparent lending comparison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9429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7438"/>
                <a:gridCol w="2357438"/>
                <a:gridCol w="2357438"/>
                <a:gridCol w="2357438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Fictional reference A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Adverse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Severe</a:t>
                      </a:r>
                    </a:p>
                  </a:txBody>
                  <a:tcPr marL="91440" marR="91440" marT="45720" marB="45720">
                    <a:solidFill>
                      <a:srgbClr val="114A7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Feasible principal (INR)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80,000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70,000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Selected term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18 months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12 months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Feasible offers / 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4A7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906A8-C8EB-47D7-8E7F-32E332E2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Payment-to-income cap 40%. Downside shortfall cap 20%.</a:t>
            </a:r>
          </a:p>
          <a:p xmlns:a="http://schemas.openxmlformats.org/drawingml/2006/main">
            <a:pPr>
              <a:defRPr sz="1950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Ranking prioritizes principal, then interest, then shorter term.</a:t>
            </a:r>
          </a:p>
        </p:txBody>
      </p:sp>
    </p:spTree>
    <p:extLst>
      <p:ext uri="{BB962C8B-B14F-4D97-AF65-F5344CB8AC3E}">
        <p14:creationId xmlns:p14="http://schemas.microsoft.com/office/powerpoint/2010/main" val="12454561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6eaecf1bb41a4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AF73D-3530-44C2-8B1E-AD9A3CDD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Stress on the same existing loan book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048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bb040a50c1472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B104-C99B-474F-9876-27E4CFF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Three fictional loans. Starting exposure INR 265,000.</a:t>
            </a:r>
          </a:p>
          <a:p xmlns:a="http://schemas.openxmlformats.org/drawingml/2006/main">
            <a:pPr>
              <a:defRPr sz="187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Month-zero default assumption for every asset.</a:t>
            </a:r>
          </a:p>
        </p:txBody>
      </p:sp>
    </p:spTree>
    <p:extLst>
      <p:ext uri="{BB962C8B-B14F-4D97-AF65-F5344CB8AC3E}">
        <p14:creationId xmlns:p14="http://schemas.microsoft.com/office/powerpoint/2010/main" val="18236025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14d2890d4918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40002-C3DC-40C2-838F-EA9E3805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A working local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82413-818A-46E9-B767-B407C08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Valuation and SHAP explanations return through one local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AB1C5-7D99-4182-863E-ED631543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Missing primary predictions fall back to a review-only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76126-FE91-4E1B-AC80-08BA9651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The audit journal survives a service restart.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3F2F-AA78-4487-94BA-DC1509C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Measured serial p95: 84 ms across 24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8470441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b5276eb2148ef"/>
          <a:stretch xmlns:a="http://schemas.openxmlformats.org/drawingml/2006/main"/>
        </p:blipFill>
        <p:spPr>
          <a:xfrm xmlns:a="http://schemas.openxmlformats.org/drawingml/2006/main">
            <a:off x="190507" y="958453"/>
            <a:ext cx="10312389" cy="572015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2B18-D61B-4D2F-AA3E-4F62132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66800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4A76"/>
                </a:solidFill>
                <a:latin typeface="Arial"/>
                <a:ea typeface="Arial"/>
                <a:cs typeface="Arial"/>
              </a:rPr>
              <a:t>Pilot readiness and next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B71B8-9325-4E75-8FF0-429BD2A7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Deliverable: reproducible valuation with explicit lending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CB0CE-E4E0-4000-85CF-DF35C7D8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Pilot gate: prospective outcomes, including unsold vehicles.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AC6D-E239-414D-98AA-2DC67FB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EV gate: more cases and independent segment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9A5D6-7362-49B1-8F6F-8FC31876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947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14A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4A76"/>
                </a:solidFill>
                <a:latin typeface="Arial"/>
                <a:ea typeface="Arial"/>
                <a:cs typeface="Arial"/>
              </a:rPr>
              <a:t>Production gate: identity, access controls and approved policy.</a:t>
            </a:r>
          </a:p>
        </p:txBody>
      </p:sp>
    </p:spTree>
    <p:extLst>
      <p:ext uri="{BB962C8B-B14F-4D97-AF65-F5344CB8AC3E}">
        <p14:creationId xmlns:p14="http://schemas.microsoft.com/office/powerpoint/2010/main" val="17526941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2026-09-06T13:15:30.9190000Z</dcterms:created>
  <dcterms:modified xsi:type="dcterms:W3CDTF">2026-09-06T13:15:30.9190000Z</dcterms:modified>
</coreProperties>
</file>